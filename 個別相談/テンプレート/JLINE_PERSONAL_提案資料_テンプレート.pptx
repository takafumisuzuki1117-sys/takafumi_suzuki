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 snapToObjects="1">
      <p:cViewPr varScale="1">
        <p:scale>
          <a:sx n="76" d="100"/>
          <a:sy n="76" d="100"/>
        </p:scale>
        <p:origin x="54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58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「では、ご案内させてください。」</a:t>
            </a:r>
          </a:p>
          <a:p>
            <a:r>
              <a:t>※宛名欄にお子様の名前を入れてから画面共有する。</a:t>
            </a:r>
          </a:p>
          <a:p>
            <a:endParaRPr/>
          </a:p>
          <a:p>
            <a:r>
              <a:t>━━━ 時間の目安（2026-09-17 坂本様の回の反省）━━━</a:t>
            </a:r>
          </a:p>
          <a:p>
            <a:r>
              <a:t>　冒頭　　　　　　　 5分</a:t>
            </a:r>
          </a:p>
          <a:p>
            <a:r>
              <a:t>　ヒアリング（本人）10分</a:t>
            </a:r>
          </a:p>
          <a:p>
            <a:r>
              <a:t>　ヒアリング（親御さん）8分　★ここを絶対に飛ばさない</a:t>
            </a:r>
          </a:p>
          <a:p>
            <a:r>
              <a:t>　動画分析　　　　　17分</a:t>
            </a:r>
          </a:p>
          <a:p>
            <a:r>
              <a:t>　まとめ・3つの問い 7分</a:t>
            </a:r>
          </a:p>
          <a:p>
            <a:r>
              <a:t>　提案　　　　　　　15分</a:t>
            </a:r>
          </a:p>
          <a:p>
            <a:r>
              <a:t>　合計　　　　　　　60分</a:t>
            </a:r>
          </a:p>
          <a:p>
            <a:endParaRPr/>
          </a:p>
          <a:p>
            <a:r>
              <a:t>　坂本様の回は動画分析だけで47分、全体で1時間44分。</a:t>
            </a:r>
          </a:p>
          <a:p>
            <a:r>
              <a:t>　親御さんへのヒアリングがゼロのまま値段を出す形になった。</a:t>
            </a:r>
          </a:p>
          <a:p>
            <a:r>
              <a:t>　動画分析は17分で切る。足りなければ「続きは受講後に」でよい。</a:t>
            </a:r>
          </a:p>
          <a:p>
            <a:endParaRPr/>
          </a:p>
          <a:p>
            <a:r>
              <a:t>━━━ 冒頭で必ず聞くこと ━━━</a:t>
            </a:r>
          </a:p>
          <a:p>
            <a:r>
              <a:t>「ご検討いただく際は、お父様ともお話しされますか？」</a:t>
            </a:r>
          </a:p>
          <a:p>
            <a:r>
              <a:t>　→ 決裁者がその場にいないなら、16枚目（ご家族でご検討いただく方へ）を</a:t>
            </a:r>
          </a:p>
          <a:p>
            <a:r>
              <a:t>　　 最後に必ず開いて、記入したPDFを送る。</a:t>
            </a:r>
          </a:p>
          <a:p>
            <a:endParaRPr/>
          </a:p>
          <a:p>
            <a:r>
              <a:t>※この資料は17枚目までが本編。18枚目以降（オプション・よくあるご質問）は</a:t>
            </a:r>
          </a:p>
          <a:p>
            <a:r>
              <a:t>　聞かれたときだけ開く付録。こちらからは出さない。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※このページが今回の追加で一番大事。ここを飛ばさない。</a:t>
            </a:r>
          </a:p>
          <a:p>
            <a:endParaRPr/>
          </a:p>
          <a:p>
            <a:r>
              <a:t>「その前に、少しだけ僕自身の話をさせてください。</a:t>
            </a:r>
          </a:p>
          <a:p>
            <a:endParaRPr/>
          </a:p>
          <a:p>
            <a:r>
              <a:t>正直に言うと、僕は才能に恵まれた選手ではありませんでした。</a:t>
            </a:r>
          </a:p>
          <a:p>
            <a:r>
              <a:t>公立中学で、短距離も長距離も学年で5番目くらい。</a:t>
            </a:r>
          </a:p>
          <a:p>
            <a:r>
              <a:t>高校のサッカー部でも、部内では真ん中くらいの位置でした。</a:t>
            </a:r>
          </a:p>
          <a:p>
            <a:endParaRPr/>
          </a:p>
          <a:p>
            <a:r>
              <a:t>それでも、プロとして9年間プレーできました。</a:t>
            </a:r>
          </a:p>
          <a:p>
            <a:endParaRPr/>
          </a:p>
          <a:p>
            <a:r>
              <a:t>何が変わったかというと、身体ではありません。試合の見方が変わりました。</a:t>
            </a:r>
          </a:p>
          <a:p>
            <a:r>
              <a:t>どこを見るか、何を準備するか、どう選ぶか。ここを変えたことで、やっと届いた。</a:t>
            </a:r>
          </a:p>
          <a:p>
            <a:endParaRPr/>
          </a:p>
          <a:p>
            <a:r>
              <a:t>だから僕は、身体能力や技術の前に、まず見方を渡したいと思っています。</a:t>
            </a:r>
          </a:p>
          <a:p>
            <a:r>
              <a:t>◯◯くんに対してやりたいのも、まったく同じことです。」</a:t>
            </a:r>
          </a:p>
          <a:p>
            <a:endParaRPr/>
          </a:p>
          <a:p>
            <a:r>
              <a:t>※「元Jリーガーだからできたんでしょう」という反論を、先に潰すためのページ。</a:t>
            </a:r>
          </a:p>
          <a:p>
            <a:r>
              <a:t>※盛らない。事実だけ言う。事実のほうが強い。</a:t>
            </a:r>
          </a:p>
          <a:p>
            <a:endParaRPr/>
          </a:p>
          <a:p>
            <a:r>
              <a:t>※体の動かし方（ステップ・リズム）が苦手だった話は、ここでは出さない。</a:t>
            </a:r>
          </a:p>
          <a:p>
            <a:r>
              <a:t>　プレーの見方の話が薄まる。聞かれたとき、または雑談の位置で使う。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「これは僕だけの話ではありません。</a:t>
            </a:r>
          </a:p>
          <a:p>
            <a:endParaRPr/>
          </a:p>
          <a:p>
            <a:r>
              <a:t>サッカーは映像の文化なので、どうしても派手なプレーに目が行きます。</a:t>
            </a:r>
          </a:p>
          <a:p>
            <a:r>
              <a:t>ドリブルやリフティングが上手い子が、すごいと言われる。</a:t>
            </a:r>
          </a:p>
          <a:p>
            <a:endParaRPr/>
          </a:p>
          <a:p>
            <a:r>
              <a:t>でも、実際に上まで行った選手を見ると、少し違います。</a:t>
            </a:r>
          </a:p>
          <a:p>
            <a:endParaRPr/>
          </a:p>
          <a:p>
            <a:r>
              <a:t>本田圭佑選手は、ガンバ大阪のジュニアユースからユースに上がれませんでした。</a:t>
            </a:r>
          </a:p>
          <a:p>
            <a:r>
              <a:t>鎌田大地選手も同じです。二人とも、そこから高校サッカーに進んでいます。</a:t>
            </a:r>
          </a:p>
          <a:p>
            <a:endParaRPr/>
          </a:p>
          <a:p>
            <a:r>
              <a:t>三笘薫選手は、川崎フロンターレからトップ昇格の話があったのを断って、筑波大学に行きました。</a:t>
            </a:r>
          </a:p>
          <a:p>
            <a:r>
              <a:t>卒業論文のテーマが、自分のドリブルはなぜ抜けるのか、です。</a:t>
            </a:r>
          </a:p>
          <a:p>
            <a:endParaRPr/>
          </a:p>
          <a:p>
            <a:r>
              <a:t>遠藤航選手は、足がものすごく速いわけではありません。</a:t>
            </a:r>
          </a:p>
          <a:p>
            <a:r>
              <a:t>それでもブンデスリーガで、球際の強さで2年連続デュエル王になっています。</a:t>
            </a:r>
          </a:p>
          <a:p>
            <a:endParaRPr/>
          </a:p>
          <a:p>
            <a:r>
              <a:t>共通しているのは、自分で考えて、選び直していることです。</a:t>
            </a:r>
          </a:p>
          <a:p>
            <a:endParaRPr/>
          </a:p>
          <a:p>
            <a:r>
              <a:t>技術が要らないという話ではありません。</a:t>
            </a:r>
          </a:p>
          <a:p>
            <a:r>
              <a:t>ただ、技術の差で決まっていると思っていると、見る場所を間違えます。」</a:t>
            </a:r>
          </a:p>
          <a:p>
            <a:endParaRPr/>
          </a:p>
          <a:p>
            <a:r>
              <a:t>※親世代が知っている選手を使う。ここで反論はほぼ出なくなる。</a:t>
            </a:r>
          </a:p>
          <a:p>
            <a:r>
              <a:t>※ここまでが「なぜ僕から、なぜこの見方なのか」。次から商品の話に入る。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「JLINE PERSONALは、動画を分析してもらうサービスではありません。</a:t>
            </a:r>
          </a:p>
          <a:p>
            <a:r>
              <a:t>最終的に、自分で分析できるようになるための伴走環境です。</a:t>
            </a:r>
          </a:p>
          <a:p>
            <a:r>
              <a:t>ここが他と一番違うところだと思っています。</a:t>
            </a:r>
          </a:p>
          <a:p>
            <a:endParaRPr/>
          </a:p>
          <a:p>
            <a:r>
              <a:t>課題を教えてもらうだけだと、次の試合でもまた教えてもらう必要があります。</a:t>
            </a:r>
          </a:p>
          <a:p>
            <a:r>
              <a:t>そうではなくて、見方そのものを渡したいんです。</a:t>
            </a:r>
          </a:p>
          <a:p>
            <a:endParaRPr/>
          </a:p>
          <a:p>
            <a:r>
              <a:t>具体的には、試合映像を『準備・判断・技術』に切り分けて、本当の課題を見つけて、</a:t>
            </a:r>
          </a:p>
          <a:p>
            <a:r>
              <a:t>次の試合で試すことを1つ決める。この型を、お子様自身に残します。」</a:t>
            </a:r>
          </a:p>
          <a:p>
            <a:endParaRPr/>
          </a:p>
          <a:p>
            <a:r>
              <a:t>★価格の話になったときに、ここへ戻る</a:t>
            </a:r>
          </a:p>
          <a:p>
            <a:r>
              <a:t>「お子さんの試合を、毎回きちんと見ている大人は、いま何人いますか。</a:t>
            </a:r>
          </a:p>
          <a:p>
            <a:r>
              <a:t>　チームのコーチは全体を見ていて、一人ひとりの試合映像までは追えません。</a:t>
            </a:r>
          </a:p>
          <a:p>
            <a:r>
              <a:t>　スクールのコーチは、練習しか見ていません。</a:t>
            </a:r>
          </a:p>
          <a:p>
            <a:r>
              <a:t>　プロのコーチが、その子の試合だけを個別に見る。そこに値段がついています」</a:t>
            </a:r>
          </a:p>
          <a:p>
            <a:endParaRPr/>
          </a:p>
          <a:p>
            <a:r>
              <a:t>　→ スクールの月謝と時間数で比べられたとき、この軸に移すと比較が成立しなくなります。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「今日やったことを、このままご家庭でやってもらえたら嬉しいです。</a:t>
            </a:r>
          </a:p>
          <a:p>
            <a:r>
              <a:t>ただ、正直に言うと、つまずくポイントが3つあります。</a:t>
            </a:r>
          </a:p>
          <a:p>
            <a:r>
              <a:t>これはチームやスクールに通っていても、同じように起きます。</a:t>
            </a:r>
          </a:p>
          <a:p>
            <a:endParaRPr/>
          </a:p>
          <a:p>
            <a:r>
              <a:t>1つ目。今日は僕が一緒に見たので、準備・判断・技術に分けられました。</a:t>
            </a:r>
          </a:p>
          <a:p>
            <a:r>
              <a:t>でも次の試合の別の場面で、同じように分けられるかというと、最初は難しいと思います。</a:t>
            </a:r>
          </a:p>
          <a:p>
            <a:endParaRPr/>
          </a:p>
          <a:p>
            <a:r>
              <a:t>2つ目。これは僕自身の話なんですけど、僕もプロ時代、自分の動画はかなり見ていました。</a:t>
            </a:r>
          </a:p>
          <a:p>
            <a:r>
              <a:t>でも守備が課題だと思い込んで、守備ばかり見ていた。監督が見ていたのは攻撃の部分でした。</a:t>
            </a:r>
          </a:p>
          <a:p>
            <a:r>
              <a:t>一人で見ていると、この視点のズレには気づけません。プロだった僕でも気づけませんでした。</a:t>
            </a:r>
          </a:p>
          <a:p>
            <a:endParaRPr/>
          </a:p>
          <a:p>
            <a:r>
              <a:t>3つ目。続かないことです。今日みたいな日は、やる気が一番高い日です。</a:t>
            </a:r>
          </a:p>
          <a:p>
            <a:r>
              <a:t>でも2週間後、3週間後も同じ熱量で続けられるかというと、ほとんどの方がここで止まります。</a:t>
            </a:r>
          </a:p>
          <a:p>
            <a:endParaRPr/>
          </a:p>
          <a:p>
            <a:r>
              <a:t>これは、やる気の問題ではありません。僕自身、9年間で3つとも経験しました。」</a:t>
            </a:r>
          </a:p>
          <a:p>
            <a:endParaRPr/>
          </a:p>
          <a:p>
            <a:r>
              <a:t>━━━ ★重要 ━━━</a:t>
            </a:r>
          </a:p>
          <a:p>
            <a:r>
              <a:t>親御さんが「続かない」「書くのが嫌だと言って一回でやめた」と話した場合、</a:t>
            </a:r>
          </a:p>
          <a:p>
            <a:r>
              <a:t>そのタイミングで必ずこのページに戻る。</a:t>
            </a:r>
          </a:p>
          <a:p>
            <a:endParaRPr/>
          </a:p>
          <a:p>
            <a:r>
              <a:t>「今おっしゃったのが、まさに3つ目です。</a:t>
            </a:r>
          </a:p>
          <a:p>
            <a:r>
              <a:t>　ご家庭の問題ではなくて、仕組みがないと誰でもそうなります。」</a:t>
            </a:r>
          </a:p>
          <a:p>
            <a:endParaRPr/>
          </a:p>
          <a:p>
            <a:r>
              <a:t>→ そのうえで 007（1ヶ月の流れ）の週次チェックインにつなぐ。</a:t>
            </a:r>
          </a:p>
          <a:p>
            <a:r>
              <a:t>　 一般論だった資料が、そのご家庭の話に変わる瞬間になる。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「これは僕の感覚だけの話ではありません。</a:t>
            </a:r>
          </a:p>
          <a:p>
            <a:endParaRPr/>
          </a:p>
          <a:p>
            <a:r>
              <a:t>2025年11月にカタールで行われたU-17ワールドカップで、FIFAが参加協会を調査したデータがあります。</a:t>
            </a:r>
          </a:p>
          <a:p>
            <a:r>
              <a:t>48協会のうち33協会が回答していて、グループステージで敗退した国と、ベスト4まで行った国を比べています。</a:t>
            </a:r>
          </a:p>
          <a:p>
            <a:endParaRPr/>
          </a:p>
          <a:p>
            <a:r>
              <a:t>選手1人あたりの年間トレーニング回数。グループ敗退国は180回。ベスト4は228回。</a:t>
            </a:r>
          </a:p>
          <a:p>
            <a:r>
              <a:t>クラブでの年間試合数。32試合に対して、40試合。</a:t>
            </a:r>
          </a:p>
          <a:p>
            <a:r>
              <a:t>そして、選手一人ひとりに個別育成プランを持っている協会の割合。グループ敗退は13%。ベスト4は50%です。</a:t>
            </a:r>
          </a:p>
          <a:p>
            <a:endParaRPr/>
          </a:p>
          <a:p>
            <a:r>
              <a:t>つまり、上に行くチームは量も多い。</a:t>
            </a:r>
          </a:p>
          <a:p>
            <a:r>
              <a:t>でも同時に、一人ひとりの現在地を記録して、課題を決めて、定期的に見直す設計も持っている。</a:t>
            </a:r>
          </a:p>
          <a:p>
            <a:endParaRPr/>
          </a:p>
          <a:p>
            <a:r>
              <a:t>正直に言うと、これはU-17代表レベルの協会の話で、小中学生にそのまま当てはまる研究ではありません。</a:t>
            </a:r>
          </a:p>
          <a:p>
            <a:r>
              <a:t>ベスト4の国は平均身長も高い。体格の差もあります。</a:t>
            </a:r>
          </a:p>
          <a:p>
            <a:r>
              <a:t>それでも、練習と設計の差が、体格の差と同じくらいはっきり出ています。</a:t>
            </a:r>
          </a:p>
          <a:p>
            <a:endParaRPr/>
          </a:p>
          <a:p>
            <a:r>
              <a:t>JLINE PERSONALは、この『一人ひとりの計画』を、ご家庭単位で回すための設計です。」</a:t>
            </a:r>
          </a:p>
          <a:p>
            <a:endParaRPr/>
          </a:p>
          <a:p>
            <a:r>
              <a:t>※時間が押していたら、このページは飛ばしてよい。前の2枚（WHY・PROOF）のほうが効く。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「進め方は3つのステップに分かれています。</a:t>
            </a:r>
          </a:p>
          <a:p>
            <a:endParaRPr/>
          </a:p>
          <a:p>
            <a:r>
              <a:t>最初の2ヶ月は、僕が全部示します。どこを見るか、何が課題か。</a:t>
            </a:r>
          </a:p>
          <a:p>
            <a:r>
              <a:t>判断・準備・技術の分け方を、こちらが提示します。</a:t>
            </a:r>
          </a:p>
          <a:p>
            <a:endParaRPr/>
          </a:p>
          <a:p>
            <a:r>
              <a:t>次の2ヶ月は、お子様が先に自分の見立てを話して、僕が足りないところを補います。</a:t>
            </a:r>
          </a:p>
          <a:p>
            <a:endParaRPr/>
          </a:p>
          <a:p>
            <a:r>
              <a:t>最後の2ヶ月は、お子様が自分で回して、僕はズレているところだけを指摘します。</a:t>
            </a:r>
          </a:p>
          <a:p>
            <a:endParaRPr/>
          </a:p>
          <a:p>
            <a:r>
              <a:t>だんだん僕の出番が減っていきます。それが狙いです。</a:t>
            </a:r>
          </a:p>
          <a:p>
            <a:endParaRPr/>
          </a:p>
          <a:p>
            <a:r>
              <a:t>6ヶ月で、最後まで到達します。」</a:t>
            </a:r>
          </a:p>
          <a:p>
            <a:endParaRPr/>
          </a:p>
          <a:p>
            <a:r>
              <a:t>※隔週にしても、本人の振り返りは毎週です。</a:t>
            </a:r>
          </a:p>
          <a:p>
            <a:r>
              <a:t>　サイクルの回数は減りません。僕が見る回数が隔週になるだけです。</a:t>
            </a:r>
          </a:p>
          <a:p>
            <a:r>
              <a:t>　ここを説明しないと「解説が月1回しかない」と受け取られます。</a:t>
            </a:r>
          </a:p>
          <a:p>
            <a:endParaRPr/>
          </a:p>
          <a:p>
            <a:r>
              <a:t>【言い方】</a:t>
            </a:r>
          </a:p>
          <a:p>
            <a:r>
              <a:t>「振り返りそのものは、毎週ご自身でやっていただきます。</a:t>
            </a:r>
          </a:p>
          <a:p>
            <a:r>
              <a:t>　僕はその答え合わせを隔週でします。動画解説で1回、Zoomで1回です。</a:t>
            </a:r>
          </a:p>
          <a:p>
            <a:r>
              <a:t>　最初は答え合わせが中心ですが、だんだんズレが減っていきます」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 v7 で一番変わったところです。順番を間違えないでください。</a:t>
            </a:r>
          </a:p>
          <a:p>
            <a:endParaRPr/>
          </a:p>
          <a:p>
            <a:r>
              <a:t>「流れはこうです。</a:t>
            </a:r>
          </a:p>
          <a:p>
            <a:endParaRPr/>
          </a:p>
          <a:p>
            <a:r>
              <a:t>　まず、振り返りそのものはご本人にやっていただきます。毎週です。</a:t>
            </a:r>
          </a:p>
          <a:p>
            <a:r>
              <a:t>　試合があって、自分で振り返って、次の試合で1つだけ試す。</a:t>
            </a:r>
          </a:p>
          <a:p>
            <a:r>
              <a:t>　チェックインシートを1枚お渡しするので、それに沿って進めてもらいます。</a:t>
            </a:r>
          </a:p>
          <a:p>
            <a:endParaRPr/>
          </a:p>
          <a:p>
            <a:r>
              <a:t>　そのうえで、僕が答え合わせをします。これが隔週です。</a:t>
            </a:r>
          </a:p>
          <a:p>
            <a:r>
              <a:t>　試合動画を月に2回、送っていただきます。</a:t>
            </a:r>
          </a:p>
          <a:p>
            <a:endParaRPr/>
          </a:p>
          <a:p>
            <a:r>
              <a:t>　1本は、僕が解説を録画してお返しします。3日以内です。何度でも見返せます。</a:t>
            </a:r>
          </a:p>
          <a:p>
            <a:r>
              <a:t>　もう1本は、Zoomでその場で一緒に見ます。60分です。</a:t>
            </a:r>
          </a:p>
          <a:p>
            <a:endParaRPr/>
          </a:p>
          <a:p>
            <a:r>
              <a:t>　やっていることは、どちらも同じです。</a:t>
            </a:r>
          </a:p>
          <a:p>
            <a:r>
              <a:t>　送っていただいた試合を一緒に見て、準備・判断・技術に分けていく。</a:t>
            </a:r>
          </a:p>
          <a:p>
            <a:r>
              <a:t>　違いは、録画で受け取るか、その場で話すかだけです。</a:t>
            </a:r>
          </a:p>
          <a:p>
            <a:endParaRPr/>
          </a:p>
          <a:p>
            <a:r>
              <a:t>　Zoomのほうは、その場で◯◯くんに質問できますし、</a:t>
            </a:r>
          </a:p>
          <a:p>
            <a:r>
              <a:t>　分からなかったところをその場で聞いてもらえます。」</a:t>
            </a:r>
          </a:p>
          <a:p>
            <a:endParaRPr/>
          </a:p>
          <a:p>
            <a:r>
              <a:t>★「Zoomでは何をするんですか」と聞かれたときの答え</a:t>
            </a:r>
          </a:p>
          <a:p>
            <a:r>
              <a:t>　「動画解説と同じことを、オンラインでつないでやります。</a:t>
            </a:r>
          </a:p>
          <a:p>
            <a:r>
              <a:t>　　事前に動画を送っていただいて、それを画面共有しながら一緒に見ていきます。</a:t>
            </a:r>
          </a:p>
          <a:p>
            <a:r>
              <a:t>　　違うのは、その場で本人に聞けることと、本人から質問できることです」</a:t>
            </a:r>
          </a:p>
          <a:p>
            <a:endParaRPr/>
          </a:p>
          <a:p>
            <a:r>
              <a:t>★動画の提出は隔週で2本です。ここを曖昧にしない。</a:t>
            </a:r>
          </a:p>
          <a:p>
            <a:r>
              <a:t>　「月1回しか送らなくていい」と受け取られると、あとで食い違います。</a:t>
            </a:r>
          </a:p>
          <a:p>
            <a:endParaRPr/>
          </a:p>
          <a:p>
            <a:r>
              <a:t>★Zoomは相談の場でもある、と必ず言う</a:t>
            </a:r>
          </a:p>
          <a:p>
            <a:r>
              <a:t>「動画を見終わったあとの時間で、気になっていることは何でも聞いてください。</a:t>
            </a:r>
          </a:p>
          <a:p>
            <a:r>
              <a:t>　進路のこと、チームでの立ち位置のこと、練習の内容のこと。</a:t>
            </a:r>
          </a:p>
          <a:p>
            <a:r>
              <a:t>　お子様からでも、親御さんからでも構いません」</a:t>
            </a:r>
          </a:p>
          <a:p>
            <a:endParaRPr/>
          </a:p>
          <a:p>
            <a:r>
              <a:t>　→ これがZoomと動画解説の一番の違いです。ここを言わないと、</a:t>
            </a:r>
          </a:p>
          <a:p>
            <a:r>
              <a:t>　　 「同じことなら解説だけでいいのでは」と思われます。</a:t>
            </a:r>
          </a:p>
          <a:p>
            <a:endParaRPr/>
          </a:p>
          <a:p>
            <a:r>
              <a:t>★ただし、プレーの答えを言う場にはしない</a:t>
            </a:r>
          </a:p>
          <a:p>
            <a:r>
              <a:t>　進路やチームの情報は、教えたほうが早いので教えます。</a:t>
            </a:r>
          </a:p>
          <a:p>
            <a:r>
              <a:t>　でも「このプレーはどうすればよかったか」だけは、これまで通り本人に考えさせます。</a:t>
            </a:r>
          </a:p>
          <a:p>
            <a:r>
              <a:t>　ここを混ぜると、自走させる設計が崩れます。</a:t>
            </a:r>
          </a:p>
          <a:p>
            <a:endParaRPr/>
          </a:p>
          <a:p>
            <a:r>
              <a:t>★週次チェックインの運用</a:t>
            </a:r>
          </a:p>
          <a:p>
            <a:r>
              <a:t>　シートの中身は、しっかり書いてもらいます。軽くしません。</a:t>
            </a:r>
          </a:p>
          <a:p>
            <a:r>
              <a:t>　ただし提出は任意で、催促もしません。</a:t>
            </a:r>
          </a:p>
          <a:p>
            <a:r>
              <a:t>　週1回こちらから聞くのは「今週やった？」だけ。はい／いいえで構いません。</a:t>
            </a:r>
          </a:p>
          <a:p>
            <a:r>
              <a:t>　中身は、隔週の動画解説とZoomで一緒に見ます。「先週のシート見せて」で足ります。</a:t>
            </a:r>
          </a:p>
          <a:p>
            <a:r>
              <a:t>　→ 出さないけど自分でやっている、という状態をそのまま扱える形にしています。</a:t>
            </a:r>
          </a:p>
          <a:p>
            <a:endParaRPr/>
          </a:p>
          <a:p>
            <a:r>
              <a:t>★保護者面談（15,000円）との線引き</a:t>
            </a:r>
          </a:p>
          <a:p>
            <a:r>
              <a:t>　Zoomの中で出た短い相談には、その場で答えます。</a:t>
            </a:r>
          </a:p>
          <a:p>
            <a:r>
              <a:t>　「関わり方をじっくり相談したい」「進路を一緒に整理したい」という場合に、</a:t>
            </a:r>
          </a:p>
          <a:p>
            <a:r>
              <a:t>　60分を丸ごと取る保護者面談をご案内します。</a:t>
            </a:r>
          </a:p>
          <a:p>
            <a:r>
              <a:t>　→ ついでに聞くのがZoom、そのために時間を取るのが保護者面談。</a:t>
            </a:r>
          </a:p>
          <a:p>
            <a:endParaRPr/>
          </a:p>
          <a:p>
            <a:r>
              <a:t>★「解説が月1回しかない」と受け取られないために</a:t>
            </a:r>
          </a:p>
          <a:p>
            <a:r>
              <a:t>　必ず「振り返りは毎週です」から入ってください。</a:t>
            </a:r>
          </a:p>
          <a:p>
            <a:r>
              <a:t>　先に回数から入ると、薄いサービスに聞こえます。</a:t>
            </a:r>
          </a:p>
          <a:p>
            <a:endParaRPr/>
          </a:p>
          <a:p>
            <a:r>
              <a:t>★なぜ毎週こちらが見ないのか、聞かれたときの答え</a:t>
            </a:r>
          </a:p>
          <a:p>
            <a:r>
              <a:t>「毎週こちらが全部やると、本人が考える前に答えが来てしまいます。</a:t>
            </a:r>
          </a:p>
          <a:p>
            <a:r>
              <a:t>　最終的に自分で回せるようになるのが目標なので、</a:t>
            </a:r>
          </a:p>
          <a:p>
            <a:r>
              <a:t>　考える時間を先に取ってもらう形にしています」</a:t>
            </a:r>
          </a:p>
          <a:p>
            <a:endParaRPr/>
          </a:p>
          <a:p>
            <a:r>
              <a:t>★「時間がない」という反論が出たときも、このページを開く。</a:t>
            </a:r>
          </a:p>
          <a:p>
            <a:r>
              <a:t>　ご負担は、動画を送る数分と、月1回のZoomだけです。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※坂本様の回で、お母さまが自分から話された悩みへの答え。</a:t>
            </a:r>
          </a:p>
          <a:p>
            <a:r>
              <a:t>　「似たようなモチベーションを持ったライバルと呼べる子がいなくて、</a:t>
            </a:r>
          </a:p>
          <a:p>
            <a:r>
              <a:t>　　みんなもうちょっと頑張ってほしいけど、俺だけ頑張るのは、という流れの中にいる」</a:t>
            </a:r>
          </a:p>
          <a:p>
            <a:r>
              <a:t>　これは所属チームでは解決できない。お金を払ってでも埋めたい穴になる。</a:t>
            </a:r>
          </a:p>
          <a:p>
            <a:endParaRPr/>
          </a:p>
          <a:p>
            <a:r>
              <a:t>「もう一つ、チームの外の話をさせてください。</a:t>
            </a:r>
          </a:p>
          <a:p>
            <a:endParaRPr/>
          </a:p>
          <a:p>
            <a:r>
              <a:t>　受講生の方限定で、オンラインのイベントを不定期でやっています。</a:t>
            </a:r>
          </a:p>
          <a:p>
            <a:r>
              <a:t>　直近では、ワールドカップに帯同したトレーナーの方に来ていただいて、</a:t>
            </a:r>
          </a:p>
          <a:p>
            <a:r>
              <a:t>　育成年代のうちに何をやっておくべきかを話してもらいました。</a:t>
            </a:r>
          </a:p>
          <a:p>
            <a:r>
              <a:t>　現役のJリーガーにも来てもらっています。</a:t>
            </a:r>
          </a:p>
          <a:p>
            <a:endParaRPr/>
          </a:p>
          <a:p>
            <a:r>
              <a:t>　同じ学年の選手がどんな課題に取り組んでいるかも、匿名でお伝えできます。</a:t>
            </a:r>
          </a:p>
          <a:p>
            <a:r>
              <a:t>　親御さんが同じことを言っても響かないことが、他の選手の話だと入ることがあります。</a:t>
            </a:r>
          </a:p>
          <a:p>
            <a:endParaRPr/>
          </a:p>
          <a:p>
            <a:r>
              <a:t>　受講期間が終わったあとも、チャットとイベントには残っていただけます。」</a:t>
            </a:r>
          </a:p>
          <a:p>
            <a:endParaRPr/>
          </a:p>
          <a:p>
            <a:r>
              <a:t>※受講生同士は直接つながない。クラブに伝えずに受講しているご家庭が多いため。</a:t>
            </a:r>
          </a:p>
          <a:p>
            <a:r>
              <a:t>　これは制約ではなく、配慮として先に伝えたほうが信頼される。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※★01と02は必ずその場で埋める。空欄のまま送らない。03は「ご契約後に決めます」と記載済み。</a:t>
            </a:r>
          </a:p>
          <a:p>
            <a:r>
              <a:t>　坂本様の回は口頭では話したが、記入欄が空白のまま資料を送っている。</a:t>
            </a:r>
          </a:p>
          <a:p>
            <a:r>
              <a:t>　その場にいないお父様が受け取るのは、この資料だけ。</a:t>
            </a:r>
          </a:p>
          <a:p>
            <a:r>
              <a:t>　空欄だと「誰にでも同じものを見せている資料」になってしまう。</a:t>
            </a:r>
          </a:p>
          <a:p>
            <a:endParaRPr/>
          </a:p>
          <a:p>
            <a:r>
              <a:t>※画面共有したまま入力する。埋まっていく様子自体が価値になる。</a:t>
            </a:r>
          </a:p>
          <a:p>
            <a:r>
              <a:t>※面談後、記入済みのPDFを書き出して送る。</a:t>
            </a:r>
          </a:p>
          <a:p>
            <a:endParaRPr/>
          </a:p>
          <a:p>
            <a:r>
              <a:t>「ここまでが、僕のやり方の説明です。</a:t>
            </a:r>
          </a:p>
          <a:p>
            <a:r>
              <a:t>ここからは、◯◯くんの話に戻します。</a:t>
            </a:r>
          </a:p>
          <a:p>
            <a:endParaRPr/>
          </a:p>
          <a:p>
            <a:r>
              <a:t>1つ目、今日見えた強み。（今日の動画分析で返した強みをそのまま言う）</a:t>
            </a:r>
          </a:p>
          <a:p>
            <a:r>
              <a:t>ここは続けてほしいところです。</a:t>
            </a:r>
          </a:p>
          <a:p>
            <a:endParaRPr/>
          </a:p>
          <a:p>
            <a:r>
              <a:t>2つ目、今日の映像で感じた課題。（親御さんの主訴とズラした、あの課題）</a:t>
            </a:r>
          </a:p>
          <a:p>
            <a:r>
              <a:t>本当の課題は、受講後に試合の映像を重ねて見極めます。まずは、ここから試してみます。</a:t>
            </a:r>
          </a:p>
          <a:p>
            <a:endParaRPr/>
          </a:p>
          <a:p>
            <a:r>
              <a:t>3つ目、6ヶ月後に目指す状態。</a:t>
            </a:r>
          </a:p>
          <a:p>
            <a:r>
              <a:t>ここは、ご契約後のセットアップミーティングで、保護者の方と一緒に決めます。</a:t>
            </a:r>
          </a:p>
          <a:p>
            <a:endParaRPr/>
          </a:p>
          <a:p>
            <a:r>
              <a:t>この3つに向けて、どう進めるかをご提案させてください。」</a:t>
            </a:r>
          </a:p>
          <a:p>
            <a:endParaRPr/>
          </a:p>
          <a:p>
            <a:r>
              <a:t>※3つ目は初回の面談では決めない。1本の映像だけでは本当の課題が分からないため。セットアップミーティングで決めるときは、観測できる状態で書く。</a:t>
            </a:r>
          </a:p>
          <a:p>
            <a:r>
              <a:t>　「うまくなる」ではなく「自分で課題を挙げて、次の一手まで言える」など。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「2026年の1月から始めて、これまで十数名の選手を見てきました。</a:t>
            </a:r>
          </a:p>
          <a:p>
            <a:r>
              <a:t>早い選手で1〜2ヶ月、長くても半年ほどで変化が出ています。」</a:t>
            </a:r>
          </a:p>
          <a:p>
            <a:endParaRPr/>
          </a:p>
          <a:p>
            <a:r>
              <a:t>※3つ全部を読み上げない。目の前の子に一番近いものを1つだけ指して話す。</a:t>
            </a:r>
          </a:p>
          <a:p>
            <a:r>
              <a:t>※小6でJクラブを狙うなら1つ目、チーム内の序列で悩んでいるなら2つ目、JYなら3つ目。</a:t>
            </a:r>
          </a:p>
          <a:p>
            <a:endParaRPr/>
          </a:p>
          <a:p>
            <a:r>
              <a:t>★1つ目は完全オンラインのみで出た結果です。対面は一度もしていません。</a:t>
            </a:r>
          </a:p>
          <a:p>
            <a:r>
              <a:t>　「対面なしで大丈夫ですか」と聞かれたら、必ずこの事例を出してください。</a:t>
            </a:r>
          </a:p>
          <a:p>
            <a:endParaRPr/>
          </a:p>
          <a:p>
            <a:r>
              <a:t>（1つ目）「小学6年生の選手で、1月に始めて、5月に市の大会で優勝しました。</a:t>
            </a:r>
          </a:p>
          <a:p>
            <a:r>
              <a:t>大会はチーム無失点で、本人は約6得点。7月にJクラブの下部組織から内定をもらいました。</a:t>
            </a:r>
          </a:p>
          <a:p>
            <a:r>
              <a:t>保護者の方は『最近の変化率を評価いただいた形です』と話してくれました。」</a:t>
            </a:r>
          </a:p>
          <a:p>
            <a:endParaRPr/>
          </a:p>
          <a:p>
            <a:r>
              <a:t>（2つ目）「小学5年生の選手で、ずっとBチームだったのがAチームの試合に呼ばれるようになりました。</a:t>
            </a:r>
          </a:p>
          <a:p>
            <a:r>
              <a:t>この子の場合、変化の起点は本人ではなくお父さんのほうでした。</a:t>
            </a:r>
          </a:p>
          <a:p>
            <a:r>
              <a:t>試合のあとに言いすぎるのをやめたら、自分で考えるようになったそうです。」</a:t>
            </a:r>
          </a:p>
          <a:p>
            <a:endParaRPr/>
          </a:p>
          <a:p>
            <a:r>
              <a:t>※ご家庭の関わり方に課題を感じている小中学生のご家庭には、2つ目を厚めに話す。</a:t>
            </a:r>
          </a:p>
          <a:p>
            <a:r>
              <a:t>※高校生の場合は、2つ目は軽く触れる程度でよい。</a:t>
            </a:r>
          </a:p>
          <a:p>
            <a:endParaRPr/>
          </a:p>
          <a:p>
            <a:r>
              <a:t>※3つ目の受講期間は、実際の期間に合わせて修正すること（現状は概数）。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※このページが一番伝えたいことです。競技の結果より、こちらを強調する。</a:t>
            </a:r>
          </a:p>
          <a:p>
            <a:r>
              <a:t>※11枚目の「ずっとBチーム」の子とは別のご家庭。混ぜない。</a:t>
            </a:r>
          </a:p>
          <a:p>
            <a:endParaRPr/>
          </a:p>
          <a:p>
            <a:r>
              <a:t>「つい先日いただいたメッセージです。</a:t>
            </a:r>
          </a:p>
          <a:p>
            <a:endParaRPr/>
          </a:p>
          <a:p>
            <a:r>
              <a:t>ジュニアユースに上がった選手なんですが、初めて公式戦でスタメンを外されました。</a:t>
            </a:r>
          </a:p>
          <a:p>
            <a:r>
              <a:t>号泣するくらい悔しかったそうです。</a:t>
            </a:r>
          </a:p>
          <a:p>
            <a:endParaRPr/>
          </a:p>
          <a:p>
            <a:r>
              <a:t>でもその日、チームの解散挨拶が終わったあと、自分からコーチのところへ行って</a:t>
            </a:r>
          </a:p>
          <a:p>
            <a:r>
              <a:t>『自分がスタメンでなかった理由を教えてください』と聞きに行ったそうです。</a:t>
            </a:r>
          </a:p>
          <a:p>
            <a:endParaRPr/>
          </a:p>
          <a:p>
            <a:r>
              <a:t>これ、親に言われて行ったわけではありません。本人が自分で動いています。</a:t>
            </a:r>
          </a:p>
          <a:p>
            <a:endParaRPr/>
          </a:p>
          <a:p>
            <a:r>
              <a:t>僕が目指しているのは、まさにこれです。</a:t>
            </a:r>
          </a:p>
          <a:p>
            <a:r>
              <a:t>うまくいかなかったときに、人のせいにするのでも、落ち込んで終わるのでもなく、</a:t>
            </a:r>
          </a:p>
          <a:p>
            <a:r>
              <a:t>自分で理由を取りに行ける。</a:t>
            </a:r>
          </a:p>
          <a:p>
            <a:endParaRPr/>
          </a:p>
          <a:p>
            <a:r>
              <a:t>保護者の方からは『勉強面も1学期と比べると向き合えるようになった』とも伺いました。</a:t>
            </a:r>
          </a:p>
          <a:p>
            <a:r>
              <a:t>サッカーで身についた力は、サッカーの外にも出ます。」</a:t>
            </a:r>
          </a:p>
          <a:p>
            <a:endParaRPr/>
          </a:p>
          <a:p>
            <a:r>
              <a:t>※反抗期のお子様を持つご家庭には、ここが刺さる。</a:t>
            </a:r>
          </a:p>
          <a:p>
            <a:r>
              <a:t>　「言っても聞かない」ではなく「自分から動くようになる」の実例として話す。</a:t>
            </a:r>
          </a:p>
          <a:p>
            <a:endParaRPr/>
          </a:p>
          <a:p>
            <a:r>
              <a:t>※同じお子様について、2ヶ月前（7月）にはこんなメッセージもいただいています。</a:t>
            </a:r>
          </a:p>
          <a:p>
            <a:r>
              <a:t>　補足したいときに使う。</a:t>
            </a:r>
          </a:p>
          <a:p>
            <a:endParaRPr/>
          </a:p>
          <a:p>
            <a:r>
              <a:t>「我が家は私がサッカーを好きなので、情報に関しては一般的なご家庭より</a:t>
            </a:r>
          </a:p>
          <a:p>
            <a:r>
              <a:t>　溢れている環境だと思うのですが、なかなか自主的に取りに行く姿は見られませんでした。</a:t>
            </a:r>
          </a:p>
          <a:p>
            <a:r>
              <a:t>　それがここ最近は自分で好きな選手の映像を探しては見て、</a:t>
            </a:r>
          </a:p>
          <a:p>
            <a:r>
              <a:t>　逆に熱中しすぎてママに怒られるくらいです。」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※価格の直前に置くページ。ここを飛ばして値段に行かない。</a:t>
            </a:r>
          </a:p>
          <a:p>
            <a:r>
              <a:t>※煽らない。事実だけ置いて、判断は相手に渡す。</a:t>
            </a:r>
          </a:p>
          <a:p>
            <a:endParaRPr/>
          </a:p>
          <a:p>
            <a:r>
              <a:t>「ご提案の前に、時期の話だけさせてください。</a:t>
            </a:r>
          </a:p>
          <a:p>
            <a:endParaRPr/>
          </a:p>
          <a:p>
            <a:r>
              <a:t>6ヶ月プランで自走期まで行くと、10月に始めた場合は2027年の3月に終わります。</a:t>
            </a:r>
          </a:p>
          <a:p>
            <a:r>
              <a:t>ちょうど新学年の手前です。</a:t>
            </a:r>
          </a:p>
          <a:p>
            <a:r>
              <a:t>新しいカテゴリー、新しいチームに、自分で回せる状態で入っていけます。</a:t>
            </a:r>
          </a:p>
          <a:p>
            <a:endParaRPr/>
          </a:p>
          <a:p>
            <a:r>
              <a:t>半年後、4月に始めると、自走期が終わるのは9月になります。</a:t>
            </a:r>
          </a:p>
          <a:p>
            <a:r>
              <a:t>新学年は、これまでと同じ入り方になります。</a:t>
            </a:r>
          </a:p>
          <a:p>
            <a:endParaRPr/>
          </a:p>
          <a:p>
            <a:r>
              <a:t>小学生・中学生の1年は、大人の1年とは重みが違うと思っています。</a:t>
            </a:r>
          </a:p>
          <a:p>
            <a:r>
              <a:t>セレクション、進路、レギュラー争い。待ってくれません。</a:t>
            </a:r>
          </a:p>
          <a:p>
            <a:endParaRPr/>
          </a:p>
          <a:p>
            <a:r>
              <a:t>僕自身、もっと早く気づけたらよかったと思うことがあります。</a:t>
            </a:r>
          </a:p>
          <a:p>
            <a:r>
              <a:t>遠回りしている時間は、正直あまりないと思っています。</a:t>
            </a:r>
          </a:p>
          <a:p>
            <a:endParaRPr/>
          </a:p>
          <a:p>
            <a:r>
              <a:t>それと、枠の話です。</a:t>
            </a:r>
          </a:p>
          <a:p>
            <a:r>
              <a:t>同時に見られるのが最大10名で、今6名が継続中なので、新規は残り4名です。</a:t>
            </a:r>
          </a:p>
          <a:p>
            <a:r>
              <a:t>埋まったらお待ちいただく形になります。」</a:t>
            </a:r>
          </a:p>
          <a:p>
            <a:endParaRPr/>
          </a:p>
          <a:p>
            <a:r>
              <a:t>※★「残り4名」という数字を必ず口に出す。</a:t>
            </a:r>
          </a:p>
          <a:p>
            <a:r>
              <a:t>　坂本様の回は「やりたいと言ってくださる方が増えているので、なくなっちゃうから」</a:t>
            </a:r>
          </a:p>
          <a:p>
            <a:r>
              <a:t>　という言い方で、数字を言っていない。資料に書いてある数字は読み上げる。</a:t>
            </a:r>
          </a:p>
          <a:p>
            <a:r>
              <a:t>※日付は開始月に合わせて言い換える。資料の数字と口頭がズレないように。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「プランは2つです。どちらも120,000円です。</a:t>
            </a:r>
          </a:p>
          <a:p>
            <a:endParaRPr/>
          </a:p>
          <a:p>
            <a:r>
              <a:t>　違いは、6ヶ月かけるか、3ヶ月に詰めるかだけです。</a:t>
            </a:r>
          </a:p>
          <a:p>
            <a:endParaRPr/>
          </a:p>
          <a:p>
            <a:r>
              <a:t>　スタンダードは隔週。6ヶ月かけて、自分で回せるところまで持っていきます。</a:t>
            </a:r>
          </a:p>
          <a:p>
            <a:r>
              <a:t>　プレミアムは毎週。3ヶ月で、セレクションや進路に間に合わせにいきます。</a:t>
            </a:r>
          </a:p>
          <a:p>
            <a:endParaRPr/>
          </a:p>
          <a:p>
            <a:r>
              <a:t>　どちらを選ぶかは、期限があるかどうかで決めてください。」</a:t>
            </a:r>
          </a:p>
          <a:p>
            <a:endParaRPr/>
          </a:p>
          <a:p>
            <a:r>
              <a:t>★金額が同じなので、価格は判断材料から外れます。</a:t>
            </a:r>
          </a:p>
          <a:p>
            <a:r>
              <a:t>　目的だけで選んでもらう形にしてください。</a:t>
            </a:r>
          </a:p>
          <a:p>
            <a:endParaRPr/>
          </a:p>
          <a:p>
            <a:r>
              <a:t>★プレミアムは自走を目指しません。言い切ってよいです。</a:t>
            </a:r>
          </a:p>
          <a:p>
            <a:r>
              <a:t>「3ヶ月だと、自分で回せるところまでは行き切りません。</a:t>
            </a:r>
          </a:p>
          <a:p>
            <a:r>
              <a:t>　その代わり、間に合わせることを優先します」</a:t>
            </a:r>
          </a:p>
          <a:p>
            <a:endParaRPr/>
          </a:p>
          <a:p>
            <a:r>
              <a:t>★単品換算の言い方</a:t>
            </a:r>
          </a:p>
          <a:p>
            <a:r>
              <a:t>「Zoomを追加で取ると15,000円、動画解説が10,000円です。</a:t>
            </a:r>
          </a:p>
          <a:p>
            <a:r>
              <a:t>　スタンダードは単価で数えると月25,000円分、6ヶ月で150,000円相当になります」</a:t>
            </a:r>
          </a:p>
          <a:p>
            <a:r>
              <a:t>　→「通常価格150,000円」とは言わない。あくまで単価での換算。</a:t>
            </a:r>
          </a:p>
          <a:p>
            <a:endParaRPr/>
          </a:p>
          <a:p>
            <a:r>
              <a:t>★初月返金について</a:t>
            </a:r>
          </a:p>
          <a:p>
            <a:r>
              <a:t>「最初の1ヶ月だけ、合わないと感じたら全額お返しします。</a:t>
            </a:r>
          </a:p>
          <a:p>
            <a:r>
              <a:t>　2ヶ月目以降は、期間途中の解約と返金はできません」</a:t>
            </a:r>
          </a:p>
          <a:p>
            <a:r>
              <a:t>　→ 聞かれる前にこちらから言う。リスクをこちらが持つ姿勢が伝わります。</a:t>
            </a:r>
          </a:p>
          <a:p>
            <a:endParaRPr/>
          </a:p>
          <a:p>
            <a:r>
              <a:t>★5名限定の理由を聞かれたら</a:t>
            </a:r>
          </a:p>
          <a:p>
            <a:r>
              <a:t>「毎週見る形は工数がかかるので、同時に5名までにしています」</a:t>
            </a:r>
          </a:p>
          <a:p>
            <a:endParaRPr/>
          </a:p>
          <a:p>
            <a:r>
              <a:t>★プレミアムのあと</a:t>
            </a:r>
          </a:p>
          <a:p>
            <a:r>
              <a:t>「3ヶ月終わったあと、スタンダードに移って自走まで行く方もいます。</a:t>
            </a:r>
          </a:p>
          <a:p>
            <a:r>
              <a:t>　その場合、料金はこのときの価格のまま据え置きます」</a:t>
            </a:r>
          </a:p>
          <a:p>
            <a:r>
              <a:t>　→ 11月以降に値上げしても、プレミアム経験者は据え置き。約束してよい。</a:t>
            </a:r>
          </a:p>
          <a:p>
            <a:endParaRPr/>
          </a:p>
          <a:p>
            <a:r>
              <a:t>【どちらを推すか】</a:t>
            </a:r>
          </a:p>
          <a:p>
            <a:r>
              <a:t>迷ったら　　　　　　　　　　　→ スタンダード</a:t>
            </a:r>
          </a:p>
          <a:p>
            <a:r>
              <a:t>毎週の提出が回りそうでも　　　 → スタンダード（無理に上げない）</a:t>
            </a:r>
          </a:p>
          <a:p>
            <a:r>
              <a:t>3ヶ月以内にセレクションがある　→ プレミアム</a:t>
            </a:r>
          </a:p>
          <a:p>
            <a:r>
              <a:t>中3・小6で進路が懸かっている　 → プレミアム</a:t>
            </a:r>
          </a:p>
          <a:p>
            <a:endParaRPr/>
          </a:p>
          <a:p>
            <a:r>
              <a:t>【分割について】</a:t>
            </a:r>
          </a:p>
          <a:p>
            <a:r>
              <a:t>120,000円なのでカード一括でも負担は大きくありません。</a:t>
            </a:r>
          </a:p>
          <a:p>
            <a:r>
              <a:t>分割をご希望の場合はカード決済で最大6回まで。銀行振込は一括のみです。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「最終的に目指すのは、コーチがいなくても、自分で自分の成長につなげられる選手です。</a:t>
            </a:r>
          </a:p>
          <a:p>
            <a:endParaRPr/>
          </a:p>
          <a:p>
            <a:r>
              <a:t>僕がずっと隣にいる形にはしたくないんです。</a:t>
            </a:r>
          </a:p>
          <a:p>
            <a:r>
              <a:t>6ヶ月後に、僕が要らなくなっているのが一番いい。</a:t>
            </a:r>
          </a:p>
          <a:p>
            <a:endParaRPr/>
          </a:p>
          <a:p>
            <a:r>
              <a:t>そしてそれは、サッカーを続けても、辞めても、残る力だと思っています。」</a:t>
            </a:r>
          </a:p>
          <a:p>
            <a:endParaRPr/>
          </a:p>
          <a:p>
            <a:r>
              <a:t>※沈黙を埋めない。</a:t>
            </a:r>
          </a:p>
          <a:p>
            <a:endParaRPr/>
          </a:p>
          <a:p>
            <a:r>
              <a:t>※決裁者がこの場にいない場合は、ここで止めずに次の16枚目を開く。</a:t>
            </a:r>
          </a:p>
          <a:p>
            <a:r>
              <a:t>　いる場合は、ここで終えて相手に渡す。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※坂本様の回の反省から追加。</a:t>
            </a:r>
          </a:p>
          <a:p>
            <a:r>
              <a:t>　動画を選んだのはお父様、三人目の動きを教えたのもお父様、自主練の相手もお父様。</a:t>
            </a:r>
          </a:p>
          <a:p>
            <a:r>
              <a:t>　それなのに提案はお母様だけに行い、お父様の話題が一度も出なかった。</a:t>
            </a:r>
          </a:p>
          <a:p>
            <a:r>
              <a:t>　「検討します」の相手が誰なのか分からないまま終わっている。</a:t>
            </a:r>
          </a:p>
          <a:p>
            <a:endParaRPr/>
          </a:p>
          <a:p>
            <a:r>
              <a:t>※使い方は2通り。</a:t>
            </a:r>
          </a:p>
          <a:p>
            <a:endParaRPr/>
          </a:p>
          <a:p>
            <a:r>
              <a:t>【決裁者がその場にいない場合】</a:t>
            </a:r>
          </a:p>
          <a:p>
            <a:r>
              <a:t>　クロージングのあとに開いて、こう言う。</a:t>
            </a:r>
          </a:p>
          <a:p>
            <a:endParaRPr/>
          </a:p>
          <a:p>
            <a:r>
              <a:t>　「この資料は、あとでお送りします。</a:t>
            </a:r>
          </a:p>
          <a:p>
            <a:r>
              <a:t>　　お父様にもご覧いただけるように、要点をこの1枚にまとめてあります。</a:t>
            </a:r>
          </a:p>
          <a:p>
            <a:r>
              <a:t>　　ご覧になって出てきた疑問は、そのままお送りください。</a:t>
            </a:r>
          </a:p>
          <a:p>
            <a:r>
              <a:t>　　こちらでお答えして、それからご判断いただければと思います。」</a:t>
            </a:r>
          </a:p>
          <a:p>
            <a:endParaRPr/>
          </a:p>
          <a:p>
            <a:r>
              <a:t>【その場に揃っている場合】</a:t>
            </a:r>
          </a:p>
          <a:p>
            <a:r>
              <a:t>　開かなくてよい。送付時の資料には含まれる。</a:t>
            </a:r>
          </a:p>
          <a:p>
            <a:endParaRPr/>
          </a:p>
          <a:p>
            <a:r>
              <a:t>※左側は必ず埋めてから送る。空欄のままだと機能しない。</a:t>
            </a:r>
          </a:p>
          <a:p>
            <a:r>
              <a:t>※10枚目（お子様の場合）とセットで、記入済みのPDFを送ること。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※付録。こちらからは触れない。聞かれたときだけ開く。</a:t>
            </a:r>
          </a:p>
          <a:p>
            <a:endParaRPr/>
          </a:p>
          <a:p>
            <a:r>
              <a:t>「対面もやっています。1回25,000円です。</a:t>
            </a:r>
          </a:p>
          <a:p>
            <a:r>
              <a:t>ただ、まずはオンラインで課題を特定してからのほうが効きます。</a:t>
            </a:r>
          </a:p>
          <a:p>
            <a:endParaRPr/>
          </a:p>
          <a:p>
            <a:r>
              <a:t>準備と判断の課題は、オンラインで十分に整理できます。</a:t>
            </a:r>
          </a:p>
          <a:p>
            <a:r>
              <a:t>そこを整理しても技術のエラーが残る場合に、初めて対面で直すのが効率がいい。</a:t>
            </a:r>
          </a:p>
          <a:p>
            <a:endParaRPr/>
          </a:p>
          <a:p>
            <a:r>
              <a:t>なので3ヶ月やってみて、技術の課題がはっきりしたら、そのときにご提案します。」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000" cy="10287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900000"/>
            <a:ext cx="12000000" cy="1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0" b="1">
                <a:solidFill>
                  <a:srgbClr val="141414"/>
                </a:solidFill>
                <a:latin typeface="Oswald"/>
                <a:ea typeface="Oswald"/>
              </a:rPr>
              <a:t>JLINE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000" y="4700000"/>
            <a:ext cx="14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上手くしてもらう選手から、自分で上手くなれる選手へ。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000" y="5600000"/>
            <a:ext cx="1400000" cy="22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3000" y="6000000"/>
            <a:ext cx="14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元Jリーガーによる、マンツーマンのパーソナルコーチング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3000" y="7300000"/>
            <a:ext cx="6600000" cy="10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3000" y="7462268"/>
            <a:ext cx="6000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4400" b="0">
                <a:solidFill>
                  <a:srgbClr val="6E6E6E"/>
                </a:solidFill>
                <a:latin typeface="Noto Sans JP"/>
                <a:ea typeface="Noto Sans JP"/>
              </a:rPr>
              <a:t>◯◯◯◯</a:t>
            </a:r>
            <a:r>
              <a:rPr lang="en-US" altLang="ja-JP" sz="4400" b="0" dirty="0">
                <a:solidFill>
                  <a:srgbClr val="6E6E6E"/>
                </a:solidFill>
                <a:latin typeface="Noto Sans JP"/>
                <a:ea typeface="Noto Sans JP"/>
              </a:rPr>
              <a:t> </a:t>
            </a:r>
            <a:r>
              <a:rPr sz="4400" b="0" dirty="0" err="1">
                <a:solidFill>
                  <a:srgbClr val="6E6E6E"/>
                </a:solidFill>
                <a:latin typeface="Noto Sans JP"/>
                <a:ea typeface="Noto Sans JP"/>
              </a:rPr>
              <a:t>様</a:t>
            </a:r>
            <a:endParaRPr sz="4400" b="0" dirty="0">
              <a:solidFill>
                <a:srgbClr val="6E6E6E"/>
              </a:solidFill>
              <a:latin typeface="Noto Sans JP"/>
              <a:ea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45000" y="8900000"/>
            <a:ext cx="6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株式会社アスリートバリュー</a:t>
            </a:r>
          </a:p>
          <a:p>
            <a:pPr algn="r">
              <a:lnSpc>
                <a:spcPct val="140000"/>
              </a:lnSpc>
            </a:pPr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鈴木 崇文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僕自身は、才能に恵まれた選手ではありませんでした。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中学・短距離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3000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3000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学年で5番目くらい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0333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0333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中学・長距離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333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学年で5番目くらい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7666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477666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高校・サッカー部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77666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77666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部内で真ん中くらい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6350000"/>
            <a:ext cx="16002000" cy="1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3000" y="6620000"/>
            <a:ext cx="150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それでも、プロとして9年間プレーしました。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795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変えたのは身体ではなく、試合の見方でした。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5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上にいった選手が持っていたのは、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派手なスキルではありませんでした。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8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技術は目に見えるので、どうしてもそこに目が行きます。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7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本田 圭佑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5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ガンバ大阪のジュニアユースから、ユースへ昇格できず。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石川の星稜高校へ進んだ。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444000" y="33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94000" y="37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鎌田 大地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4000" y="45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同じくガンバ大阪のユースへ昇格できず。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京都の東山高校へ進んだ。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7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3000" y="61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三笘 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3000" y="69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川崎フロンターレのトップ昇格を辞退して筑波大学へ。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卒業論文のテーマは、自身のドリブルだった。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000" y="57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94000" y="61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遠藤 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4000" y="69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スピードではなく球際の強さで、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ブンデスリーガのデュエル王に2年連続で選ばれた。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250000"/>
            <a:ext cx="16002000" cy="10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3000" y="8480000"/>
            <a:ext cx="150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共通しているのは、自分で考えて、選び直したことです。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動画を「分析してもらう」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サービスではありません。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00000"/>
            <a:ext cx="7601000" cy="27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3000" y="4500000"/>
            <a:ext cx="67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一般的な動画分析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000" y="5100000"/>
            <a:ext cx="6701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課題を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指摘してもらう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9544000" y="4100000"/>
            <a:ext cx="7601000" cy="2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94000" y="4500000"/>
            <a:ext cx="67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JLINE PERSONAL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000" y="5100000"/>
            <a:ext cx="6701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FAFAF8"/>
                </a:solidFill>
                <a:latin typeface="Noto Sans JP"/>
                <a:ea typeface="Noto Sans JP"/>
              </a:rPr>
              <a:t>見方そのものを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FAFAF8"/>
                </a:solidFill>
                <a:latin typeface="Noto Sans JP"/>
                <a:ea typeface="Noto Sans JP"/>
              </a:rPr>
              <a:t>受け取る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350000"/>
            <a:ext cx="16002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Noto Sans JP"/>
                <a:ea typeface="Noto Sans JP"/>
              </a:rPr>
              <a:t>コーチがいなくても、自分で成長できる状態をつくる。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840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お子様の試合を、毎回きちんと見ているプロのコーチ。いま、何人いるでしょうか。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5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ただ、自分だけで続けるときに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つまずくポイントが3つあります。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8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これは、チームやスクールに通っていても同じように起きます。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分けられない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準備・判断・技術に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切り分けられない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視点がズレる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333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0333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自分の思い込みに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気づけない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7666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77666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666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続かない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77666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477666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2〜3週間で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熱量が戻ってしまう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745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これは、やる気の問題ではありません。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840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見るべき場所は、学年・ポジション・利き足によって変わります。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お手本になるのはプロの映像ですが、そのまま当てはめても噛み合いません。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世界のトップでも、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一人ひとりに計画を持っています。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00000"/>
            <a:ext cx="5067333" cy="29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年間トレーニング回数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3000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6E6E6E"/>
                </a:solidFill>
                <a:latin typeface="Oswald"/>
                <a:ea typeface="Oswald"/>
              </a:rPr>
              <a:t>180</a:t>
            </a:r>
            <a:r>
              <a:rPr sz="2600" b="1">
                <a:solidFill>
                  <a:srgbClr val="6E6E6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228</a:t>
            </a:r>
            <a:r>
              <a:rPr sz="1500" b="1">
                <a:solidFill>
                  <a:srgbClr val="141414"/>
                </a:solidFill>
                <a:latin typeface="Noto Sans JP"/>
                <a:ea typeface="Noto Sans JP"/>
              </a:rPr>
              <a:t>  回／年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0333" y="4100000"/>
            <a:ext cx="5067333" cy="29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10333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年間クラブ試合数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333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6E6E6E"/>
                </a:solidFill>
                <a:latin typeface="Oswald"/>
                <a:ea typeface="Oswald"/>
              </a:rPr>
              <a:t>32</a:t>
            </a:r>
            <a:r>
              <a:rPr sz="2600" b="1">
                <a:solidFill>
                  <a:srgbClr val="6E6E6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40</a:t>
            </a:r>
            <a:r>
              <a:rPr sz="1500" b="1">
                <a:solidFill>
                  <a:srgbClr val="141414"/>
                </a:solidFill>
                <a:latin typeface="Noto Sans JP"/>
                <a:ea typeface="Noto Sans JP"/>
              </a:rPr>
              <a:t>  試合／年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7666" y="4100000"/>
            <a:ext cx="5067333" cy="29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666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AFAF8"/>
                </a:solidFill>
                <a:latin typeface="Noto Sans JP"/>
                <a:ea typeface="Noto Sans JP"/>
              </a:rPr>
              <a:t>個別育成プランを持つ協会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7666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9E9E9E"/>
                </a:solidFill>
                <a:latin typeface="Oswald"/>
                <a:ea typeface="Oswald"/>
              </a:rPr>
              <a:t>13</a:t>
            </a:r>
            <a:r>
              <a:rPr sz="2600" b="1">
                <a:solidFill>
                  <a:srgbClr val="9E9E9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50</a:t>
            </a:r>
            <a:r>
              <a:rPr sz="1500" b="1">
                <a:solidFill>
                  <a:srgbClr val="FAFAF8"/>
                </a:solidFill>
                <a:latin typeface="Noto Sans JP"/>
                <a:ea typeface="Noto Sans JP"/>
              </a:rPr>
              <a:t> 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72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E6E6E"/>
                </a:solidFill>
                <a:latin typeface="Noto Sans JP"/>
                <a:ea typeface="Noto Sans JP"/>
              </a:rPr>
              <a:t>グループステージ敗退国　→　ベスト4進出国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25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E6E6E"/>
                </a:solidFill>
                <a:latin typeface="Noto Sans JP"/>
                <a:ea typeface="Noto Sans JP"/>
              </a:rPr>
              <a:t>出典：FIFA Talent Development Scheme Insights - FIFA U-17 World Cup Qatar 2025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6E6E6E"/>
                </a:solidFill>
                <a:latin typeface="Noto Sans JP"/>
                <a:ea typeface="Noto Sans JP"/>
              </a:rPr>
              <a:t>※FIFA加盟48協会のうち33協会への調査。協会単位のデータであり、育成年代の個人にそのまま当てはまるものではありません。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だから、3つのステップで設計しています。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300000"/>
            <a:ext cx="5067333" cy="4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42C"/>
                </a:solidFill>
                <a:latin typeface="Oswald"/>
                <a:ea typeface="Oswald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00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インストール期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B8B8B8"/>
                </a:solidFill>
                <a:latin typeface="Noto Sans JP"/>
                <a:ea typeface="Noto Sans JP"/>
              </a:rPr>
              <a:t>最初の2ヶ月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700000"/>
            <a:ext cx="700000" cy="16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AFAF8"/>
                </a:solidFill>
                <a:latin typeface="Noto Sans JP"/>
                <a:ea typeface="Noto Sans JP"/>
              </a:rPr>
              <a:t>コーチが全部示す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3300000"/>
            <a:ext cx="5067333" cy="4100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3BC"/>
                </a:solidFill>
                <a:latin typeface="Oswald"/>
                <a:ea typeface="Oswald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移行期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333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B8B8B8"/>
                </a:solidFill>
                <a:latin typeface="Noto Sans JP"/>
                <a:ea typeface="Noto Sans JP"/>
              </a:rPr>
              <a:t>次の2ヶ月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333" y="5700000"/>
            <a:ext cx="700000" cy="16000"/>
          </a:xfrm>
          <a:prstGeom prst="rect">
            <a:avLst/>
          </a:prstGeom>
          <a:solidFill>
            <a:srgbClr val="FFB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0333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AFAF8"/>
                </a:solidFill>
                <a:latin typeface="Noto Sans JP"/>
                <a:ea typeface="Noto Sans JP"/>
              </a:rPr>
              <a:t>本人が先に見立てを出す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7666" y="3300000"/>
            <a:ext cx="5067333" cy="41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477666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42C"/>
                </a:solidFill>
                <a:latin typeface="Oswald"/>
                <a:ea typeface="Oswald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666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自走期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666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最後の2ヶ月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477666" y="5700000"/>
            <a:ext cx="700000" cy="16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77666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本人が回す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900000"/>
            <a:ext cx="16002000" cy="75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93000" y="808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6ヶ月で、</a:t>
            </a:r>
            <a:r>
              <a:rPr sz="2000" b="1">
                <a:solidFill>
                  <a:srgbClr val="ED142C"/>
                </a:solidFill>
                <a:latin typeface="Noto Sans JP"/>
                <a:ea typeface="Noto Sans JP"/>
              </a:rPr>
              <a:t>コーチがいなくても回せる状態</a:t>
            </a:r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まで到達します。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880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※上記はスタンダード（6ヶ月）の場合です。プレミアム（3ヶ月）は STEP 2 までとなります。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1ヶ月の流れ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振り返りは毎週ご本人が。僕はその答え合わせを、隔週で行います。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2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毎週</a:t>
            </a:r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　｜　ご本人が回す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3000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000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試合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000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いつも通り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33" y="4400000"/>
            <a:ext cx="4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333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0333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0333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自分で振り返る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0333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チェックインシートに1枚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77666" y="4400000"/>
            <a:ext cx="4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7666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457666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7666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次の試合で試す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7666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テーマは1つだけ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8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隔週</a:t>
            </a:r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　｜　試合動画を送る　→　僕が一緒に見て、答え合わせをする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20000"/>
            <a:ext cx="7701000" cy="1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3000" y="6420000"/>
            <a:ext cx="6801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月1回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3000" y="6850000"/>
            <a:ext cx="6801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動画解説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3000" y="737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解説を録画してお返しします。何度でも見返せます。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4000" y="6120000"/>
            <a:ext cx="7701000" cy="1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4000" y="6420000"/>
            <a:ext cx="6801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月1回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4000" y="6850000"/>
            <a:ext cx="6801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Zoom（60分）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4000" y="737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その場で一緒に見て、気になっていることも相談できます。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8030000"/>
            <a:ext cx="1600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</a:rPr>
              <a:t>どちらも、送っていただいた試合動画を一緒に見て、準備・判断・技術に分ける時間です。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</a:rPr>
              <a:t>Zoomでは動画を見たあと、進路やチームのことなど、気になっていることもご相談いただけます。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チームの外に、同じ目線の場所があります。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所属チームでは得にくい情報と刺激を、オンラインで受け取れます。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現役Jリーガーに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直接聞ける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幼少期に何を考えていたか。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今、何をしているか。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不定期開催・アーカイブつき。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同年代の取り組みを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知れる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333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0333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同じ学年の選手がどんな課題に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取り組んでいるかを、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匿名でお伝えします。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7666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77666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666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期間が終わっても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残れる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77666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477666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受講期間が終わったあとも、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チャットとイベントには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参加いただけます。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250000"/>
            <a:ext cx="16002000" cy="1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3000" y="7460000"/>
            <a:ext cx="15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FAFAF8"/>
                </a:solidFill>
                <a:latin typeface="Noto Sans JP"/>
                <a:ea typeface="Noto Sans JP"/>
              </a:rPr>
              <a:t>「チームに同じ目線の子がいない」という声をよくいただきます。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FAFAF8"/>
                </a:solidFill>
                <a:latin typeface="Noto Sans JP"/>
                <a:ea typeface="Noto Sans JP"/>
              </a:rPr>
              <a:t>外に基準を持てる場所があると、一人でも続けやすくなります。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8600000"/>
            <a:ext cx="16002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※受講生同士を直接おつなぎすることはしません。所属先に伝えずに受講されている方が多いためです。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YOUR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8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414"/>
                </a:solidFill>
                <a:latin typeface="Noto Sans JP"/>
                <a:ea typeface="Noto Sans JP"/>
              </a:rPr>
              <a:t>◯◯くんの場合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今日うかがったお話と動画から、僕が見えたことです。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95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295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3000" y="320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3000" y="317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今日見えた強み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000" y="371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続けてほしいところ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3000" y="418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482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482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43000" y="507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3000" y="504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今日の映像で感じた課題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000" y="558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本当の課題は、受講後に見極めます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43000" y="605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669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669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43000" y="694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3000" y="691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6ヶ月後に目指す状態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745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どうなっていたら成功か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43000" y="792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88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Noto Sans JP"/>
                <a:ea typeface="Noto Sans JP"/>
              </a:rPr>
              <a:t>ここに向けた進め方を、このあとご提案します。</a:t>
            </a:r>
          </a:p>
        </p:txBody>
      </p:sp>
      <p:sp>
        <p:nvSpPr>
          <p:cNvPr id="25" name="入力欄 強み"/>
          <p:cNvSpPr txBox="1"/>
          <p:nvPr/>
        </p:nvSpPr>
        <p:spPr>
          <a:xfrm>
            <a:off x="9000000" y="317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  <p:sp>
        <p:nvSpPr>
          <p:cNvPr id="26" name="入力欄 課題"/>
          <p:cNvSpPr txBox="1"/>
          <p:nvPr/>
        </p:nvSpPr>
        <p:spPr>
          <a:xfrm>
            <a:off x="9000000" y="504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  <p:sp>
        <p:nvSpPr>
          <p:cNvPr id="27" name="入力欄 6ヶ月後"/>
          <p:cNvSpPr txBox="1"/>
          <p:nvPr/>
        </p:nvSpPr>
        <p:spPr>
          <a:xfrm>
            <a:off x="9000000" y="691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ご契約後のセットアップミーティングで、</a:t>
            </a:r>
            <a:b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</a:br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保護者の方と一緒に決めます</a:t>
            </a:r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RESULTS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受講生に起きた変化　①　競技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2026年1月から指導してきた選手の例です。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小6・町クラブ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市の大会で優勝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00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00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Jクラブ下部組織に内定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00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完全オンラインのみ・約6ヶ月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333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0333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小5・町クラブ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333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ずっとBチーム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333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333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Aチームの試合へ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333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保護者の関わり方から変化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7666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77666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J下部ジュニアユース・MF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666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シュートを打てない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666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666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チームの得点王に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7666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受講開始から約4ヶ月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05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※個人の事例です。成果には個人差があります。実名・チーム名は伏せています。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RESULTS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スタメンを外された日に、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本人が起こした行動です。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800000"/>
            <a:ext cx="16002000" cy="305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43000" y="4150000"/>
            <a:ext cx="146020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「初めて公式戦スタメン落ちを経験し、号泣するほど悔しい気持ちを露わにしていました。</a:t>
            </a:r>
          </a:p>
          <a:p>
            <a:pPr algn="l">
              <a:lnSpc>
                <a:spcPct val="155000"/>
              </a:lnSpc>
            </a:pPr>
            <a:endParaRPr sz="1800" b="0">
              <a:solidFill>
                <a:srgbClr val="FAFAF8"/>
              </a:solidFill>
              <a:latin typeface="Noto Sans JP"/>
              <a:ea typeface="Noto Sans JP"/>
            </a:endParaRP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その日のチーム解散挨拶後、コーチの元へ行き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『自分がスタメンでなかった理由を教えてください』と話を聞きに行ったそうでした。</a:t>
            </a:r>
          </a:p>
          <a:p>
            <a:pPr algn="l">
              <a:lnSpc>
                <a:spcPct val="155000"/>
              </a:lnSpc>
            </a:pPr>
            <a:endParaRPr sz="1800" b="0">
              <a:solidFill>
                <a:srgbClr val="FAFAF8"/>
              </a:solidFill>
              <a:latin typeface="Noto Sans JP"/>
              <a:ea typeface="Noto Sans JP"/>
            </a:endParaRP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自らコーチへ話を聞きに行くアクションを起こせたことに、成長を感じた次第でした。」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7150000"/>
            <a:ext cx="16002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Noto Sans JP"/>
                <a:ea typeface="Noto Sans JP"/>
              </a:rPr>
              <a:t>ジュニアユース1年・右SB　保護者の方より（2026年9月）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900000"/>
            <a:ext cx="16002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これが、自分で考えて動けるということだと思っています。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今から始めるか、もう少し様子を見るか。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6ヶ月プランで、STEP 3（自走期）を終える時期です。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7701000" cy="28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70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10月にスタート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250000"/>
            <a:ext cx="6801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2027年3月に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自走期を終える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3000" y="5500000"/>
            <a:ext cx="6801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Noto Sans JP"/>
                <a:ea typeface="Noto Sans JP"/>
              </a:rPr>
              <a:t>新学年を、自分で回せる状態で迎えられます。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44000" y="3350000"/>
            <a:ext cx="7701000" cy="2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94000" y="370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4月にスタート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4000" y="4250000"/>
            <a:ext cx="6801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2027年9月に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自走期を終える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4000" y="5500000"/>
            <a:ext cx="6801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新学年は、これまでと同じ入り方になります。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6650000"/>
            <a:ext cx="50000" cy="5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43000" y="6500000"/>
            <a:ext cx="157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小学生・中学生の1年は、大人の1年とは重みが違います。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210000"/>
            <a:ext cx="50000" cy="5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43000" y="7060000"/>
            <a:ext cx="157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セレクション、進路、レギュラー争いは、待ってくれません。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7800000"/>
            <a:ext cx="16002000" cy="125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93000" y="804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現在お受けできる新規の枠は、残り4名です。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000" y="85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（同時にサポートするのは最大10名。うち6名が継続中の方です）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3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どちらも120,000円（税込132,000円）です。違いは、6ヶ月かけるか、3ヶ月に詰めるかだけです。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850000"/>
            <a:ext cx="7701000" cy="375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3000" y="3150000"/>
            <a:ext cx="6701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隔週　｜　おすすめ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3000" y="3570000"/>
            <a:ext cx="6701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AFAF8"/>
                </a:solidFill>
                <a:latin typeface="Noto Sans JP"/>
                <a:ea typeface="Noto Sans JP"/>
              </a:rPr>
              <a:t>スタンダード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3000" y="4180000"/>
            <a:ext cx="6701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6ヶ月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3000" y="4550000"/>
            <a:ext cx="6701000" cy="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ED142C"/>
                </a:solidFill>
                <a:latin typeface="Oswald"/>
                <a:ea typeface="Oswald"/>
              </a:rPr>
              <a:t>120,000</a:t>
            </a:r>
            <a:r>
              <a:rPr sz="1700" b="1">
                <a:solidFill>
                  <a:srgbClr val="FAFAF8"/>
                </a:solidFill>
                <a:latin typeface="Noto Sans JP"/>
                <a:ea typeface="Noto Sans JP"/>
              </a:rPr>
              <a:t>  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3000" y="5170000"/>
            <a:ext cx="6701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8C8C8"/>
                </a:solidFill>
                <a:latin typeface="Noto Sans JP"/>
                <a:ea typeface="Noto Sans JP"/>
              </a:rPr>
              <a:t>月あたり 20,000円（税込22,000円）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3000" y="5580000"/>
            <a:ext cx="700000" cy="14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3000" y="5780000"/>
            <a:ext cx="6701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AFAF8"/>
                </a:solidFill>
                <a:latin typeface="Noto Sans JP"/>
                <a:ea typeface="Noto Sans JP"/>
              </a:rPr>
              <a:t>Zoom 月1回（60分）　／　動画解説 月1回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AFAF8"/>
                </a:solidFill>
                <a:latin typeface="Noto Sans JP"/>
                <a:ea typeface="Noto Sans JP"/>
              </a:rPr>
              <a:t>自分で回せるところまで持っていきます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4000" y="2850000"/>
            <a:ext cx="7701000" cy="375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44000" y="3150000"/>
            <a:ext cx="6701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Noto Sans JP"/>
                <a:ea typeface="Noto Sans JP"/>
              </a:rPr>
              <a:t>毎週　｜　5名限定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4000" y="3570000"/>
            <a:ext cx="6701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プレミアム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4000" y="4180000"/>
            <a:ext cx="6701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3ヶ月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4000" y="4550000"/>
            <a:ext cx="6701000" cy="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41414"/>
                </a:solidFill>
                <a:latin typeface="Oswald"/>
                <a:ea typeface="Oswald"/>
              </a:rPr>
              <a:t>120,000</a:t>
            </a: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  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4000" y="5170000"/>
            <a:ext cx="6701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月あたり 40,000円（税込44,000円）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4000" y="558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44000" y="5780000"/>
            <a:ext cx="6701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Zoom 月1回（60分）　／　動画解説 月3回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セレクション・進路に間に合わせます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850000"/>
            <a:ext cx="16002000" cy="10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3000" y="7050000"/>
            <a:ext cx="151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41414"/>
                </a:solidFill>
                <a:latin typeface="Noto Sans JP"/>
                <a:ea typeface="Noto Sans JP"/>
              </a:rPr>
              <a:t>追加オプションの単価で換算すると、スタンダードは150,000円相当、プレミアムは135,000円相当です。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41414"/>
                </a:solidFill>
                <a:latin typeface="Noto Sans JP"/>
                <a:ea typeface="Noto Sans JP"/>
              </a:rPr>
              <a:t>最初の1ヶ月は、ご満足いただけない場合に全額返金いたします。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8020000"/>
            <a:ext cx="16002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共通　｜　はじめにセットアップミーティング（保護者の方・30分／お子様の同席も可）　／　週次チェックイン　／　Chatwork（24時間以内）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　　　　　Zoomでは動画を見たあと、進路やチームのことなどのご相談も承ります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　　　　　現役Jリーガー・有識者のオンラインイベント参加権とアーカイブ（受講期間終了後も参加可）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※表示価格は税別です（6ヶ月総額 税込132,000円）。　※この料金は2026年10月31日までにお申し込みの方に適用されます。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6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最後に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50000"/>
            <a:ext cx="16002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僕がいなくなっても、残る力を渡したいと思っています。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250000"/>
            <a:ext cx="16002000" cy="18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3000" y="4600000"/>
            <a:ext cx="14902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最終的に目指すのは、コーチがいなくても、</a:t>
            </a:r>
          </a:p>
          <a:p>
            <a:pPr algn="l">
              <a:lnSpc>
                <a:spcPct val="140000"/>
              </a:lnSpc>
            </a:pPr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自分で自分の成長につなげられる選手です。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60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Noto Sans JP"/>
                <a:ea typeface="Noto Sans JP"/>
              </a:rPr>
              <a:t>それは、サッカーを続けても、辞めても、残る力だと思っています。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FOR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ご家族でご検討いただく方へ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本日の面談にご参加されていない方に向けて、要点をまとめました。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00000"/>
            <a:ext cx="7701000" cy="30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45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本日ご提案した内容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10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プラン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3000" y="450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93000" y="474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期間・料金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3000" y="514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3000" y="538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Zoom・動画解説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3000" y="578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44000" y="3100000"/>
            <a:ext cx="7701000" cy="30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94000" y="345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特にご覧いただきたいページ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4000" y="410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004 ｜ 一人で続けるときにつまずく3点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4000" y="474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009 ｜ お子様の場合（今日見えた強みと課題）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4000" y="538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012 ｜ 始める時期による、到達点の違い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6500000"/>
            <a:ext cx="16002000" cy="1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93000" y="674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ご覧になって出てきた疑問は、そのままお送りください。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3000" y="72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ご家族で話される中で出てきたことも、遠慮なくお知らせください。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オプション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必要になったときだけ、単発でご利用いただけます。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0000"/>
            <a:ext cx="16002000" cy="1080000"/>
          </a:xfrm>
          <a:prstGeom prst="rect">
            <a:avLst/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34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対面トレーニング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3000" y="331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25,000円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000" y="344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3000" y="381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東京・神奈川は交通費込み（その他は実費）　施設利用料は別途ご負担ください　月2枠まで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410000"/>
            <a:ext cx="16002000" cy="108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3000" y="460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保護者面談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00" y="457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15,000円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470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／回・60分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3000" y="507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お子様との関わり方、進路、今の困りごとについて。保護者の方おひとりで受けていただけます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670000"/>
            <a:ext cx="16002000" cy="1080000"/>
          </a:xfrm>
          <a:prstGeom prst="rect">
            <a:avLst/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93000" y="586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Zoom 追加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00" y="583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15,000円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0" y="596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000" y="633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事前に試合動画を確認したうえで実施します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6930000"/>
            <a:ext cx="16002000" cy="108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93000" y="712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動画解説 追加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00" y="709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10,000円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000" y="722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3000" y="75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提出から3日以内に返却します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150000"/>
            <a:ext cx="16002000" cy="9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93000" y="8330000"/>
            <a:ext cx="15102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対面については、まずオンラインで課題を特定してからのご提案になります。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準備と判断の課題はオンラインで整理できます。技術のエラーが残った場合に、対面が効きます。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練習の時間が増えますか？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増えません。もう撮っている試合動画を送っていただくだけです。そこにZoomの時間が加わります。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他の習い事と両立できますか？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できます。新しく通っていただく場所はありません。動画を送るのに数分、Zoomが月に1回、チェックインが週に1回です。体操やスクールなど、体の使い方を鍛える習い事とは、見ている部分が違うので重なり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他の動画分析と何が違いますか？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技術を教えるサービスではありません。自分で課題を見つけて修正できるようになるための伴走です。技術指導をお求めの場合は、他のサービスのほうが合っています。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6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77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3000" y="77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効果は出ますか？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3000" y="83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保証はできません。所属チームの方針も本人の取り組み方も違うため、成果には個人差があります。ただ、早い選手で1〜2ヶ月、長くても半年ほどで「自分で振り返るようになった」という変化が出てい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動画はどう撮ればいいですか？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引いた状態で、前半か後半をまるごと撮ってください。お子様だけを追う必要はありません。編集も不要です。撮り方と送り方は、はじめのセットアップミーティングで一緒に決めます。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子どもが続けられるか不安です。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提出や予約の催促はしません。自分から動くこと自体が自走力のトレーニングだと考えているためです。そのうえで、毎週のチェックインで必ずこちらから接点をつくります。ご家庭だけで続けるより、見てくれる人がいるほうが続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途中でやめられますか？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最初の1ヶ月は、ご満足いただけない場合に全額返金いたします。2ヶ月目以降は、期間途中の解約および返金は行っておりません。詳しくは利用規約をご確認ください。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6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77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3000" y="77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うちの子に向いていますか？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3000" y="83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ヒントを出したときに自分で考え始めるお子様と、ご家庭での関わり方を一緒に変えていけるご家庭では、変化が出ています。合わないと感じた場合は、正直にそうお伝えします。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月に2回で足りますか？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接点は毎週あります。週1回のチェックインシートでご本人が振り返り、僕が隔週でその答え合わせをします。Zoomと動画解説の月2回は、その答え合わせの時間です。急ぎのご相談は、Chatworkに24時間以内でお返し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高校生でも受けられますか？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受けられます。これまでの受講生は小中学生が中心ですが、お渡しするのは見方そのものなので、中身は変わりません。高校生の場合は、選手権や新人戦の日程から逆算して、取り組むテーマを決めてい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チームの指導方針と食い違いませんか？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食い違いません。技術そのものを教えるサービスではないためです。チームで言われていることが、準備・判断・技術のどこの話なのかを一緒に整理します。監督やコーチに何を聞きに行くかを考えるのも、この時間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3390</Words>
  <Application>Microsoft Macintosh PowerPoint</Application>
  <PresentationFormat>ユーザー設定</PresentationFormat>
  <Paragraphs>742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Noto Sans JP</vt:lpstr>
      <vt:lpstr>Arial</vt:lpstr>
      <vt:lpstr>Calibri</vt:lpstr>
      <vt:lpstr>Oswald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tkfm.szk.1117@gmail.com</cp:lastModifiedBy>
  <cp:revision>2</cp:revision>
  <dcterms:created xsi:type="dcterms:W3CDTF">2013-01-27T09:14:16Z</dcterms:created>
  <dcterms:modified xsi:type="dcterms:W3CDTF">2026-09-26T02:07:22Z</dcterms:modified>
  <cp:category/>
</cp:coreProperties>
</file>